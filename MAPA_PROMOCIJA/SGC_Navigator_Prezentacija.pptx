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F509BC-8583-41C2-B99B-6B45D72E4FA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531681-0544-4ABD-BA57-99D0CDA3E7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5BD8F8-E0CD-4E55-8A9A-84DCA4F031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4BEA79-6364-4151-B679-C18E8AB834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B1E6F4-F02B-436B-B78D-18B3BE63F5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EC2BB4-FC74-4DE2-A558-65A12AF03E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7D0636-E697-41EE-84C1-C93C6A89B8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11480" y="3657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COBISS.SI  ·  PRAKTIKUM 2025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411840" y="731520"/>
            <a:ext cx="4388760" cy="2285640"/>
          </a:xfrm>
          <a:prstGeom prst="rect">
            <a:avLst/>
          </a:prstGeom>
          <a:solidFill>
            <a:srgbClr val="112A4A"/>
          </a:solidFill>
          <a:ln w="1905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822960"/>
            <a:ext cx="41601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SGC 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Navigator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C9A7"/>
                </a:solidFill>
                <a:effectLst/>
                <a:uFillTx/>
                <a:latin typeface="Calibri"/>
              </a:rPr>
              <a:t>Interaktivni navigator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C9A7"/>
                </a:solidFill>
                <a:effectLst/>
                <a:uFillTx/>
                <a:latin typeface="Calibri"/>
              </a:rPr>
              <a:t>Splošnega geslovnika </a:t>
            </a:r>
            <a:r>
              <a:rPr lang="en-US" sz="1350" b="0" u="none" strike="noStrike">
                <a:solidFill>
                  <a:srgbClr val="00C9A7"/>
                </a:solidFill>
                <a:effectLst/>
                <a:uFillTx/>
                <a:latin typeface="Calibri"/>
              </a:rPr>
              <a:t>COBISS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" y="3657960"/>
            <a:ext cx="4388760" cy="914040"/>
          </a:xfrm>
          <a:prstGeom prst="rect">
            <a:avLst/>
          </a:prstGeom>
          <a:solidFill>
            <a:srgbClr val="0D2342"/>
          </a:solidFill>
          <a:ln w="12700">
            <a:solidFill>
              <a:srgbClr val="11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37036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A9BBF"/>
                </a:solidFill>
                <a:effectLst/>
                <a:uFillTx/>
                <a:latin typeface="Calibri"/>
              </a:rPr>
              <a:t>Avtorja: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Pavel Bozhinov  ·  </a:t>
            </a: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Dragan Stojanović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7A9BBF"/>
                </a:solidFill>
                <a:effectLst/>
                <a:uFillTx/>
                <a:latin typeface="Calibri"/>
              </a:rPr>
              <a:t>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408744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846680" y="274320"/>
            <a:ext cx="3840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767280" y="1371600"/>
            <a:ext cx="1828440" cy="438480"/>
          </a:xfrm>
          <a:prstGeom prst="rect">
            <a:avLst/>
          </a:prstGeom>
          <a:solidFill>
            <a:srgbClr val="112A4A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767280" y="137160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9A7"/>
                </a:solidFill>
                <a:effectLst/>
                <a:uFillTx/>
                <a:latin typeface="Calibri"/>
              </a:rPr>
              <a:t>React 19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767280" y="704520"/>
            <a:ext cx="1828440" cy="438480"/>
          </a:xfrm>
          <a:prstGeom prst="rect">
            <a:avLst/>
          </a:prstGeom>
          <a:solidFill>
            <a:srgbClr val="112A4A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767280" y="70452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9A7"/>
                </a:solidFill>
                <a:effectLst/>
                <a:uFillTx/>
                <a:latin typeface="Calibri"/>
              </a:rPr>
              <a:t>Spring Boot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767280" y="2076120"/>
            <a:ext cx="1828440" cy="438480"/>
          </a:xfrm>
          <a:prstGeom prst="rect">
            <a:avLst/>
          </a:prstGeom>
          <a:solidFill>
            <a:srgbClr val="112A4A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767280" y="207612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9A7"/>
                </a:solidFill>
                <a:effectLst/>
                <a:uFillTx/>
                <a:latin typeface="Calibri"/>
              </a:rPr>
              <a:t>Neo4j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767280" y="2743200"/>
            <a:ext cx="1828440" cy="438480"/>
          </a:xfrm>
          <a:prstGeom prst="rect">
            <a:avLst/>
          </a:prstGeom>
          <a:solidFill>
            <a:srgbClr val="112A4A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767280" y="274320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C9A7"/>
                </a:solidFill>
                <a:effectLst/>
                <a:uFillTx/>
                <a:latin typeface="Calibri"/>
              </a:rPr>
              <a:t>GraphQL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4755240" y="36360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201" strike="noStrike">
                <a:solidFill>
                  <a:srgbClr val="7A9BBF"/>
                </a:solidFill>
                <a:effectLst/>
                <a:uFillTx/>
                <a:latin typeface="Calibri"/>
              </a:rPr>
              <a:t>Tehnološki sklad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548640" y="2057760"/>
            <a:ext cx="2514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A9BBF"/>
                </a:solidFill>
                <a:effectLst/>
                <a:uFillTx/>
                <a:latin typeface="Calibri"/>
              </a:rPr>
              <a:t>cobiss-praktikum.github.io/frontend/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0"/>
            <a:ext cx="832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0C9A7"/>
                </a:solidFill>
                <a:effectLst/>
                <a:uFillTx/>
                <a:latin typeface="Calibri"/>
              </a:rPr>
              <a:t>ISKALNIK IN PRIMERI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0" y="685800"/>
            <a:ext cx="9143640" cy="36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91440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ZMOGLJIVOSTI ISKANJA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411480" y="1188720"/>
            <a:ext cx="42973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~75.000 SGC gesla v bazi (Neo4j graf)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Iskanje po slovenščini in angleščini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Razvrstitev zadetkov: točno → začetek → vsebuje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Sekcija “Primeri” - naključni živi vzorec ob vsakem nalaganju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Takojšnji prikaz zadetkov z Apollo Client predpomnilnikom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URL parametrizacija: /frontend/graph/:uri - globoke povezave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4892040" y="137160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ZASLONSKA SLIKA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4892040" y="1645920"/>
            <a:ext cx="3931560" cy="2240280"/>
          </a:xfrm>
          <a:prstGeom prst="rect">
            <a:avLst/>
          </a:prstGeom>
          <a:solidFill>
            <a:srgbClr val="112A4A"/>
          </a:solidFill>
          <a:ln w="1905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4983480" y="1645920"/>
            <a:ext cx="374868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046720" y="48463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9BBF"/>
                </a:solidFill>
                <a:effectLst/>
                <a:uFillTx/>
                <a:latin typeface="Calibri"/>
              </a:rPr>
              <a:t>2 /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4892040" y="1653840"/>
            <a:ext cx="3931560" cy="223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0"/>
            <a:ext cx="832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0C9A7"/>
                </a:solidFill>
                <a:effectLst/>
                <a:uFillTx/>
                <a:latin typeface="Calibri"/>
              </a:rPr>
              <a:t>GRAFIČNI PRIKAZ SOSEŠČINE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0" y="685800"/>
            <a:ext cx="9143640" cy="36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1047600"/>
            <a:ext cx="4297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INTERAKTIVNI GRAF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411480" y="1321920"/>
            <a:ext cx="3962520" cy="2792880"/>
          </a:xfrm>
          <a:prstGeom prst="rect">
            <a:avLst/>
          </a:prstGeom>
          <a:solidFill>
            <a:srgbClr val="112A4A"/>
          </a:solidFill>
          <a:ln w="1905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502920" y="1645920"/>
            <a:ext cx="41144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4983480" y="91440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KLJUČNE FUNKCIONALNOSTI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4983480" y="1188720"/>
            <a:ext cx="38401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D3 force-directed fizikalna simulacija vozlišč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Gruče: Broader · Narrower · Related (semanične relacije)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Razširitev vozlišča s klikom - lena (lazy) soseščina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Predpomnilnik pozicij (nodePositionCache) - stabilni re-renderi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Iskanje predhodu vozlišč brez izgube konteksta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Svetla / temna tema - dva barvna sklopa 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Ničelna navigacija: klik → /frontend/graph/:uri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9"/>
          <p:cNvSpPr/>
          <p:nvPr/>
        </p:nvSpPr>
        <p:spPr>
          <a:xfrm>
            <a:off x="914400" y="4224600"/>
            <a:ext cx="2971800" cy="456840"/>
          </a:xfrm>
          <a:prstGeom prst="rect">
            <a:avLst/>
          </a:prstGeom>
          <a:solidFill>
            <a:srgbClr val="112A4A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914760" y="43340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C9A7"/>
                </a:solidFill>
                <a:effectLst/>
                <a:uFillTx/>
                <a:latin typeface="Calibri"/>
              </a:rPr>
              <a:t>Knjižnica: </a:t>
            </a:r>
            <a:r>
              <a:rPr lang="en-US" sz="10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react-force-graph-2d  +  d3-force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548640" y="434340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8046720" y="48463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9BBF"/>
                </a:solidFill>
                <a:effectLst/>
                <a:uFillTx/>
                <a:latin typeface="Calibri"/>
              </a:rPr>
              <a:t>3 /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"/>
          <p:cNvPicPr/>
          <p:nvPr/>
        </p:nvPicPr>
        <p:blipFill>
          <a:blip r:embed="rId1"/>
          <a:stretch/>
        </p:blipFill>
        <p:spPr>
          <a:xfrm>
            <a:off x="411480" y="1321920"/>
            <a:ext cx="3962520" cy="279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411480" y="0"/>
            <a:ext cx="832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0C9A7"/>
                </a:solidFill>
                <a:effectLst/>
                <a:uFillTx/>
                <a:latin typeface="Calibri"/>
              </a:rPr>
              <a:t>HIERA</a:t>
            </a:r>
            <a:r>
              <a:rPr lang="en-US" sz="1100" b="1" u="none" spc="400" strike="noStrike">
                <a:solidFill>
                  <a:srgbClr val="00C9A7"/>
                </a:solidFill>
                <a:effectLst/>
                <a:uFillTx/>
                <a:latin typeface="Calibri"/>
              </a:rPr>
              <a:t>RHIČN</a:t>
            </a:r>
            <a:r>
              <a:rPr lang="en-US" sz="1100" b="1" u="none" spc="400" strike="noStrike">
                <a:solidFill>
                  <a:srgbClr val="00C9A7"/>
                </a:solidFill>
                <a:effectLst/>
                <a:uFillTx/>
                <a:latin typeface="Calibri"/>
              </a:rPr>
              <a:t>I </a:t>
            </a:r>
            <a:r>
              <a:rPr lang="en-US" sz="1100" b="1" u="none" spc="400" strike="noStrike">
                <a:solidFill>
                  <a:srgbClr val="00C9A7"/>
                </a:solidFill>
                <a:effectLst/>
                <a:uFillTx/>
                <a:latin typeface="Calibri"/>
              </a:rPr>
              <a:t>PRIKA</a:t>
            </a:r>
            <a:r>
              <a:rPr lang="en-US" sz="1100" b="1" u="none" spc="400" strike="noStrike">
                <a:solidFill>
                  <a:srgbClr val="00C9A7"/>
                </a:solidFill>
                <a:effectLst/>
                <a:uFillTx/>
                <a:latin typeface="Calibri"/>
              </a:rPr>
              <a:t>Z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0" y="685800"/>
            <a:ext cx="9143640" cy="36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411480" y="914400"/>
            <a:ext cx="4297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TAKSONOMSKO DREVO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411480" y="1188720"/>
            <a:ext cx="42058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Vertikalna hierarhija: nadrejeni → koren → podrejeni pojmi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Razdelki “Širši” / “Ožji” / “Sorodni”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Klik na vozlišče → popover z akcijami: Razširi / Navigiraj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Vzporedna sinhronizacija z grafičnim pogledom (isti podatki)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Definicija in scopeNote v bočnem panelu (desktop) ali akordeonu (mobil)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URL parameter ?tab=hierarchy - neposredna deljiva povezava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5029200" y="137160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Z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A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S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L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O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N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S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K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A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 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S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L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I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K</a:t>
            </a:r>
            <a:r>
              <a:rPr lang="en-US" sz="900" b="1" u="none" spc="300" strike="noStrike">
                <a:solidFill>
                  <a:srgbClr val="00C9A7"/>
                </a:solidFill>
                <a:effectLst/>
                <a:uFillTx/>
                <a:latin typeface="Calibri"/>
              </a:rPr>
              <a:t>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5178600" y="1645920"/>
            <a:ext cx="3508200" cy="2975760"/>
          </a:xfrm>
          <a:prstGeom prst="rect">
            <a:avLst/>
          </a:prstGeom>
          <a:solidFill>
            <a:srgbClr val="112A4A"/>
          </a:solidFill>
          <a:ln w="1905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8046720" y="48463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9BBF"/>
                </a:solidFill>
                <a:effectLst/>
                <a:uFillTx/>
                <a:latin typeface="Calibri"/>
              </a:rPr>
              <a:t>4 /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"/>
          <p:cNvPicPr/>
          <p:nvPr/>
        </p:nvPicPr>
        <p:blipFill>
          <a:blip r:embed="rId1"/>
          <a:stretch/>
        </p:blipFill>
        <p:spPr>
          <a:xfrm>
            <a:off x="5178600" y="1645920"/>
            <a:ext cx="3508200" cy="297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411480" y="0"/>
            <a:ext cx="832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0C9A7"/>
                </a:solidFill>
                <a:effectLst/>
                <a:uFillTx/>
                <a:latin typeface="Calibri"/>
              </a:rPr>
              <a:t>VARNOST IN PRILAGODLJIVOST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0" y="685800"/>
            <a:ext cx="9143640" cy="36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292680" y="1005840"/>
            <a:ext cx="2742840" cy="3748680"/>
          </a:xfrm>
          <a:prstGeom prst="rect">
            <a:avLst/>
          </a:prstGeom>
          <a:solidFill>
            <a:srgbClr val="112A4A"/>
          </a:solidFill>
          <a:ln w="1524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292680" y="1005840"/>
            <a:ext cx="2742840" cy="502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292680" y="10058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A1628"/>
                </a:solidFill>
                <a:effectLst/>
                <a:uFillTx/>
                <a:latin typeface="Calibri"/>
              </a:rPr>
              <a:t>ALTCHA CAPTCHA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384120" y="157284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7A9BBF"/>
                </a:solidFill>
                <a:effectLst/>
                <a:uFillTx/>
                <a:latin typeface="Calibri"/>
              </a:rPr>
              <a:t>Varnostni mehanizem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402480" y="1810440"/>
            <a:ext cx="254160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SHA-256 puzzle - brez piškotkov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HMAC-SHA256 podpis izziva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Rok veljavnosti: 5 minut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Odjemalsko: 10 zahtev / 60s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Strežnik: POST /api/auth/verify-gateway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Zasebnost: brez zbiranja podatkov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3218760" y="1005840"/>
            <a:ext cx="2742840" cy="3748680"/>
          </a:xfrm>
          <a:prstGeom prst="rect">
            <a:avLst/>
          </a:prstGeom>
          <a:solidFill>
            <a:srgbClr val="112A4A"/>
          </a:solidFill>
          <a:ln w="1524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3218760" y="1005840"/>
            <a:ext cx="2742840" cy="502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3218760" y="10058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A1628"/>
                </a:solidFill>
                <a:effectLst/>
                <a:uFillTx/>
                <a:latin typeface="Calibri"/>
              </a:rPr>
              <a:t>TEMA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3310200" y="157284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7A9BBF"/>
                </a:solidFill>
                <a:effectLst/>
                <a:uFillTx/>
                <a:latin typeface="Calibri"/>
              </a:rPr>
              <a:t>Izgled vmesnika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3328560" y="1810440"/>
            <a:ext cx="254160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Nativna podpora svetle teme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Nativna podpora temne teme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Takojšnji prekop brez ponovnega nalaganja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Ločeni barvni sklopi CANVAS_PALETTE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Tailwind CSS 4.x utility razredi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CSS spremenljivke: --brand-navy, --brand-teal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6144840" y="1005840"/>
            <a:ext cx="2742840" cy="3748680"/>
          </a:xfrm>
          <a:prstGeom prst="rect">
            <a:avLst/>
          </a:prstGeom>
          <a:solidFill>
            <a:srgbClr val="112A4A"/>
          </a:solidFill>
          <a:ln w="1524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6144840" y="1005840"/>
            <a:ext cx="2742840" cy="502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6144840" y="10058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A1628"/>
                </a:solidFill>
                <a:effectLst/>
                <a:uFillTx/>
                <a:latin typeface="Calibri"/>
              </a:rPr>
              <a:t>LOKALIZACIJA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6236280" y="157284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7A9BBF"/>
                </a:solidFill>
                <a:effectLst/>
                <a:uFillTx/>
                <a:latin typeface="Calibri"/>
              </a:rPr>
              <a:t>Večjezičnost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7"/>
          <p:cNvSpPr/>
          <p:nvPr/>
        </p:nvSpPr>
        <p:spPr>
          <a:xfrm>
            <a:off x="6254640" y="1810440"/>
            <a:ext cx="254160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i18next + react-i18next integracija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Prevajalske datoteke: /locales/{sl,en}/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Menjava jezika v realnem času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Dvojezičnost iskanja: sl / en / oba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SEO meta oznake v obeh jezikih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E8EEF5"/>
                </a:solidFill>
                <a:effectLst/>
                <a:uFillTx/>
                <a:latin typeface="Calibri"/>
              </a:rPr>
              <a:t>URL-neodvisna jezikovna nastavitev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8"/>
          <p:cNvSpPr/>
          <p:nvPr/>
        </p:nvSpPr>
        <p:spPr>
          <a:xfrm>
            <a:off x="292680" y="4827960"/>
            <a:ext cx="8503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9"/>
          <p:cNvSpPr/>
          <p:nvPr/>
        </p:nvSpPr>
        <p:spPr>
          <a:xfrm>
            <a:off x="8046720" y="48463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9BBF"/>
                </a:solidFill>
                <a:effectLst/>
                <a:uFillTx/>
                <a:latin typeface="Calibri"/>
              </a:rPr>
              <a:t>5 / 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365760" y="320040"/>
            <a:ext cx="8412120" cy="2880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511920" y="457200"/>
            <a:ext cx="8119440" cy="2605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511920" y="502920"/>
            <a:ext cx="81194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400" strike="noStrike">
                <a:solidFill>
                  <a:srgbClr val="FFFFFF"/>
                </a:solidFill>
                <a:effectLst/>
                <a:uFillTx/>
                <a:latin typeface="Calibri"/>
              </a:rPr>
              <a:t>HVALA ZA POZORNOST!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365760" y="3200400"/>
            <a:ext cx="8412120" cy="5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2971800" y="3429000"/>
            <a:ext cx="3200400" cy="1143000"/>
          </a:xfrm>
          <a:prstGeom prst="rect">
            <a:avLst/>
          </a:prstGeom>
          <a:solidFill>
            <a:srgbClr val="112A4A"/>
          </a:solidFill>
          <a:ln w="12700">
            <a:solidFill>
              <a:srgbClr val="0D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2514960" y="3635280"/>
            <a:ext cx="388584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01" strike="noStrike">
                <a:solidFill>
                  <a:srgbClr val="7A9BBF"/>
                </a:solidFill>
                <a:effectLst/>
                <a:uFillTx/>
                <a:latin typeface="Calibri"/>
              </a:rPr>
              <a:t>Projekt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US" sz="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C9A7"/>
                </a:solidFill>
                <a:effectLst/>
                <a:uFillTx/>
                <a:latin typeface="Calibri"/>
              </a:rPr>
              <a:t>cobiss-praktikum.github.io/frontend/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7A9BBF"/>
                </a:solidFill>
                <a:effectLst/>
                <a:uFillTx/>
                <a:latin typeface="Calibri"/>
              </a:rPr>
              <a:t>Pavel Bozhinov  ·  Dragan Stojanović  ·  2025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LibreOffice/26.2.4.2$Linux_X86_64 LibreOffice_project/c44d3140fc62714965bf5d98735e0d79ba4b1ebd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2026-06-10T18:41:27Z</dcterms:created>
  <dc:creator>PptxGenJS</dc:creator>
  <dc:description/>
  <dc:language>en-US</dc:language>
  <cp:lastModifiedBy/>
  <dcterms:modified xsi:type="dcterms:W3CDTF">2026-06-10T21:07:36Z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